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7ba9bb3e384864" /><Relationship Type="http://schemas.openxmlformats.org/officeDocument/2006/relationships/extended-properties" Target="/docProps/app.xml" Id="Rded7dd6df1f64a5f" /><Relationship Type="http://schemas.openxmlformats.org/officeDocument/2006/relationships/officeDocument" Target="/ppt/presentation.xml" Id="R1b57ad60482140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e4eb61ee254bd9"/>
  </p:sldMasterIdLst>
  <p:notesMasterIdLst>
    <p:notesMasterId xmlns:r="http://schemas.openxmlformats.org/officeDocument/2006/relationships" r:id="R0d8adb4e81f546c1"/>
  </p:notesMasterIdLst>
  <p:sldIdLst>
    <p:sldId xmlns:r="http://schemas.openxmlformats.org/officeDocument/2006/relationships" id="256" r:id="Rb2a80b6a51f44e54"/>
    <p:sldId xmlns:r="http://schemas.openxmlformats.org/officeDocument/2006/relationships" id="257" r:id="Rb60468848b5d4e76"/>
    <p:sldId xmlns:r="http://schemas.openxmlformats.org/officeDocument/2006/relationships" id="258" r:id="R6060af1e395e4816"/>
    <p:sldId xmlns:r="http://schemas.openxmlformats.org/officeDocument/2006/relationships" id="259" r:id="R184d8bae2fcd462c"/>
    <p:sldId xmlns:r="http://schemas.openxmlformats.org/officeDocument/2006/relationships" id="260" r:id="R1074aa9f09b848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81fc9834da420d" /><Relationship Type="http://schemas.openxmlformats.org/officeDocument/2006/relationships/slideMaster" Target="/ppt/slideMasters/slideMaster1.xml" Id="Rcfe4eb61ee254bd9" /><Relationship Type="http://schemas.openxmlformats.org/officeDocument/2006/relationships/notesMaster" Target="/ppt/notesMasters/notesMaster1.xml" Id="R0d8adb4e81f546c1" /><Relationship Type="http://schemas.openxmlformats.org/officeDocument/2006/relationships/presProps" Target="/ppt/presProps.xml" Id="R0f4931dbdcbd4ad3" /><Relationship Type="http://schemas.openxmlformats.org/officeDocument/2006/relationships/tableStyles" Target="/ppt/tableStyles.xml" Id="R6d4a7a8bf1d04203" /><Relationship Type="http://schemas.openxmlformats.org/officeDocument/2006/relationships/slide" Target="/ppt/slides/slide1.xml" Id="Rb2a80b6a51f44e54" /><Relationship Type="http://schemas.openxmlformats.org/officeDocument/2006/relationships/slide" Target="/ppt/slides/slide2.xml" Id="Rb60468848b5d4e76" /><Relationship Type="http://schemas.openxmlformats.org/officeDocument/2006/relationships/slide" Target="/ppt/slides/slide3.xml" Id="R6060af1e395e4816" /><Relationship Type="http://schemas.openxmlformats.org/officeDocument/2006/relationships/slide" Target="/ppt/slides/slide4.xml" Id="R184d8bae2fcd462c" /><Relationship Type="http://schemas.openxmlformats.org/officeDocument/2006/relationships/slide" Target="/ppt/slides/slide5.xml" Id="R1074aa9f09b848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19eb5523ea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9a53eec9b54749" /><Relationship Type="http://schemas.openxmlformats.org/officeDocument/2006/relationships/notesMaster" Target="/ppt/notesMasters/notesMaster1.xml" Id="R5496e1e498ba4a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6385cf71164a60" /><Relationship Type="http://schemas.openxmlformats.org/officeDocument/2006/relationships/notesMaster" Target="/ppt/notesMasters/notesMaster1.xml" Id="Rd6f54ac6c2ac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45a21103c64da0" /><Relationship Type="http://schemas.openxmlformats.org/officeDocument/2006/relationships/notesMaster" Target="/ppt/notesMasters/notesMaster1.xml" Id="R321650eb8f2c43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81c571cf204bd9" /><Relationship Type="http://schemas.openxmlformats.org/officeDocument/2006/relationships/notesMaster" Target="/ppt/notesMasters/notesMaster1.xml" Id="R574c73dfcd5e4c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a2576d8a644ea1" /><Relationship Type="http://schemas.openxmlformats.org/officeDocument/2006/relationships/notesMaster" Target="/ppt/notesMasters/notesMaster1.xml" Id="R579e9d51c91d46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1cb76e99a41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8b00042e6b4e6a" /><Relationship Type="http://schemas.openxmlformats.org/officeDocument/2006/relationships/slideLayout" Target="/ppt/slideLayouts/slideLayout1.xml" Id="R99bed474f1584b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ed474f1584b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df4b9d5c44421" /><Relationship Type="http://schemas.openxmlformats.org/officeDocument/2006/relationships/image" Target="/ppt/media/image.jpeg" Id="Rf8c3a13b27c3463e" /><Relationship Type="http://schemas.openxmlformats.org/officeDocument/2006/relationships/notesSlide" Target="/ppt/notesSlides/notesSlide1.xml" Id="R28cf6467149b49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b1aa6ae024cdd" /><Relationship Type="http://schemas.openxmlformats.org/officeDocument/2006/relationships/image" Target="/ppt/media/image2.jpeg" Id="Rbfe08877e82d45c7" /><Relationship Type="http://schemas.openxmlformats.org/officeDocument/2006/relationships/image" Target="/ppt/media/image3.jpeg" Id="Re32c804d21f14fc9" /><Relationship Type="http://schemas.openxmlformats.org/officeDocument/2006/relationships/image" Target="/ppt/media/image4.jpeg" Id="Rcfd6ea809f5d407c" /><Relationship Type="http://schemas.openxmlformats.org/officeDocument/2006/relationships/notesSlide" Target="/ppt/notesSlides/notesSlide2.xml" Id="Rce6c7669574b46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ebbcdefe84fc1" /><Relationship Type="http://schemas.openxmlformats.org/officeDocument/2006/relationships/image" Target="/ppt/media/image5.jpeg" Id="R9d1b8e19f33342c2" /><Relationship Type="http://schemas.openxmlformats.org/officeDocument/2006/relationships/notesSlide" Target="/ppt/notesSlides/notesSlide3.xml" Id="R7d3efd12e0764c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b2c19ca324571" /><Relationship Type="http://schemas.openxmlformats.org/officeDocument/2006/relationships/notesSlide" Target="/ppt/notesSlides/notesSlide4.xml" Id="R0b465690ce9a4c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655cf6f524ef5" /><Relationship Type="http://schemas.openxmlformats.org/officeDocument/2006/relationships/image" Target="/ppt/media/image6.jpeg" Id="Rfa9af144984a4bf9" /><Relationship Type="http://schemas.openxmlformats.org/officeDocument/2006/relationships/notesSlide" Target="/ppt/notesSlides/notesSlide5.xml" Id="R3caac5e97ebf4c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live-demo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3a13b27c3463e"/>
          <a:srcRect xmlns:a="http://schemas.openxmlformats.org/drawingml/2006/main" l="17812" t="0" r="178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0"/>
            <a:ext cx="78486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white-field">
            <a:extLst xmlns:a="http://schemas.openxmlformats.org/drawingml/2006/main">
              <a:ext uri="{FF2B5EF4-FFF2-40B4-BE49-F238E27FC236}">
                <a16:creationId xmlns:a16="http://schemas.microsoft.com/office/drawing/2014/main" id="{DF454C62-6FB9-4467-89E4-A73E3338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coral-rule">
            <a:extLst xmlns:a="http://schemas.openxmlformats.org/drawingml/2006/main">
              <a:ext uri="{FF2B5EF4-FFF2-40B4-BE49-F238E27FC236}">
                <a16:creationId xmlns:a16="http://schemas.microsoft.com/office/drawing/2014/main" id="{A9339C6C-09B1-4DDD-A498-E0739EF1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17B8A94-2103-4DDF-8FBE-5B6CC777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OPENAI BUILD WEEK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61B7490-C6D5-4B09-A95C-A306A4CA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3905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Yuki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C1BC33C-C7F6-4EE5-82CD-22F02930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39052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Curious
Desktop Robot</a:t>
            </a:r>
          </a:p>
        </p:txBody>
      </p:sp>
      <p:sp>
        <p:nvSpPr>
          <p:cNvPr id="7" name="cover-body">
            <a:extLst xmlns:a="http://schemas.openxmlformats.org/drawingml/2006/main">
              <a:ext uri="{FF2B5EF4-FFF2-40B4-BE49-F238E27FC236}">
                <a16:creationId xmlns:a16="http://schemas.microsoft.com/office/drawing/2014/main" id="{EE362489-F25B-4133-8AEA-416E2B17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36957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A native C++ embodied AI character that sees, reacts, moves, and starts conversations.</a:t>
            </a:r>
          </a:p>
        </p:txBody>
      </p:sp>
      <p:sp>
        <p:nvSpPr>
          <p:cNvPr id="8" name="cover-stack">
            <a:extLst xmlns:a="http://schemas.openxmlformats.org/drawingml/2006/main">
              <a:ext uri="{FF2B5EF4-FFF2-40B4-BE49-F238E27FC236}">
                <a16:creationId xmlns:a16="http://schemas.microsoft.com/office/drawing/2014/main" id="{DE10BD64-CC73-4A76-BC6E-A25B5488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3762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F55"/>
                </a:solidFill>
                <a:latin typeface="Helvetica Neue"/>
                <a:ea typeface="Helvetica Neue"/>
                <a:cs typeface="Helvetica Neue"/>
              </a:defRPr>
            </a:pPr>
            <a:r>
              <a:t>ESP32-S3  /  C++  /  LVGL  /  MCP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1D43C20E-4A42-4E9B-B5E8-D57FE57E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971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Live demo frame from the finished physical build</a:t>
            </a:r>
          </a:p>
        </p:txBody>
      </p:sp>
      <p:sp>
        <p:nvSpPr>
          <p:cNvPr id="10" name="page-1">
            <a:extLst xmlns:a="http://schemas.openxmlformats.org/drawingml/2006/main">
              <a:ext uri="{FF2B5EF4-FFF2-40B4-BE49-F238E27FC236}">
                <a16:creationId xmlns:a16="http://schemas.microsoft.com/office/drawing/2014/main" id="{523C1C92-F970-41AE-BAD0-9BFFA1DD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28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3689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95464DF-72B5-4E9D-9CF7-18A9C86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057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Presence continues between prompts.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2BB187-F886-4F62-A7BE-B9E65BB8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Yuki is designed as a companion with behavior between commands, not a chatbot placed inside a shell.</a:t>
            </a:r>
          </a:p>
        </p:txBody>
      </p:sp>
      <p:sp>
        <p:nvSpPr>
          <p:cNvPr id="3" name="photo-back-0">
            <a:extLst xmlns:a="http://schemas.openxmlformats.org/drawingml/2006/main">
              <a:ext uri="{FF2B5EF4-FFF2-40B4-BE49-F238E27FC236}">
                <a16:creationId xmlns:a16="http://schemas.microsoft.com/office/drawing/2014/main" id="{0F99DF6C-C476-4A9A-9B88-B906ED83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333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demo-wak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08877e82d45c7"/>
          <a:srcRect xmlns:a="http://schemas.openxmlformats.org/drawingml/2006/main" l="8289" t="0" r="82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81150"/>
            <a:ext cx="3333750" cy="2247900"/>
          </a:xfrm>
          <a:prstGeom xmlns:a="http://schemas.openxmlformats.org/drawingml/2006/main" prst="rect">
            <a:avLst/>
          </a:prstGeom>
        </p:spPr>
      </p:pic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12213D90-C371-442D-A88E-A866A7FE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29075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WAKES</a:t>
            </a:r>
          </a:p>
        </p:txBody>
      </p:sp>
      <p:sp>
        <p:nvSpPr>
          <p:cNvPr id="6" name="copy-0">
            <a:extLst xmlns:a="http://schemas.openxmlformats.org/drawingml/2006/main">
              <a:ext uri="{FF2B5EF4-FFF2-40B4-BE49-F238E27FC236}">
                <a16:creationId xmlns:a16="http://schemas.microsoft.com/office/drawing/2014/main" id="{BD6592F0-0827-41E5-ABD5-6602AB5C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91025"/>
            <a:ext cx="3333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"Hi Yuki" or head touch invites interaction; touch also triggers a shy reaction.</a:t>
            </a:r>
          </a:p>
        </p:txBody>
      </p:sp>
      <p:sp>
        <p:nvSpPr>
          <p:cNvPr id="7" name="photo-back-1">
            <a:extLst xmlns:a="http://schemas.openxmlformats.org/drawingml/2006/main">
              <a:ext uri="{FF2B5EF4-FFF2-40B4-BE49-F238E27FC236}">
                <a16:creationId xmlns:a16="http://schemas.microsoft.com/office/drawing/2014/main" id="{1C4C9CC7-246B-49BC-BF24-BFC44182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81150"/>
            <a:ext cx="3333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7" name="demo-se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c804d21f14fc9"/>
          <a:srcRect xmlns:a="http://schemas.openxmlformats.org/drawingml/2006/main" l="8289" t="0" r="82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1581150"/>
            <a:ext cx="3333750" cy="2247900"/>
          </a:xfrm>
          <a:prstGeom xmlns:a="http://schemas.openxmlformats.org/drawingml/2006/main" prst="rect">
            <a:avLst/>
          </a:prstGeom>
        </p:spPr>
      </p:pic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A7B4E367-90A4-4591-BB92-5A8881A8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29075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SEES</a:t>
            </a:r>
          </a:p>
        </p:txBody>
      </p:sp>
      <p:sp>
        <p:nvSpPr>
          <p:cNvPr id="10" name="copy-1">
            <a:extLst xmlns:a="http://schemas.openxmlformats.org/drawingml/2006/main">
              <a:ext uri="{FF2B5EF4-FFF2-40B4-BE49-F238E27FC236}">
                <a16:creationId xmlns:a16="http://schemas.microsoft.com/office/drawing/2014/main" id="{C56E81A5-A283-4FB7-9D81-70503BBD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91025"/>
            <a:ext cx="3333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Local face detection keeps gaze and the calibrated physical head oriented toward the user.</a:t>
            </a:r>
          </a:p>
        </p:txBody>
      </p:sp>
      <p:sp>
        <p:nvSpPr>
          <p:cNvPr id="11" name="photo-back-2">
            <a:extLst xmlns:a="http://schemas.openxmlformats.org/drawingml/2006/main">
              <a:ext uri="{FF2B5EF4-FFF2-40B4-BE49-F238E27FC236}">
                <a16:creationId xmlns:a16="http://schemas.microsoft.com/office/drawing/2014/main" id="{BDF33A1E-E6D6-414C-963D-27DFEF3B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333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demo-perform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6ea809f5d407c"/>
          <a:srcRect xmlns:a="http://schemas.openxmlformats.org/drawingml/2006/main" l="8289" t="0" r="82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1581150"/>
            <a:ext cx="3333750" cy="2247900"/>
          </a:xfrm>
          <a:prstGeom xmlns:a="http://schemas.openxmlformats.org/drawingml/2006/main" prst="rect">
            <a:avLst/>
          </a:prstGeom>
        </p:spPr>
      </p:pic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47AC61DF-9F07-42B9-BF7B-A7E338C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29075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6F55"/>
                </a:solidFill>
                <a:latin typeface="Helvetica Neue"/>
                <a:ea typeface="Helvetica Neue"/>
                <a:cs typeface="Helvetica Neue"/>
              </a:defRPr>
            </a:pPr>
            <a:r>
              <a:t>PERFORMS</a:t>
            </a:r>
          </a:p>
        </p:txBody>
      </p:sp>
      <p:sp>
        <p:nvSpPr>
          <p:cNvPr id="14" name="copy-2">
            <a:extLst xmlns:a="http://schemas.openxmlformats.org/drawingml/2006/main">
              <a:ext uri="{FF2B5EF4-FFF2-40B4-BE49-F238E27FC236}">
                <a16:creationId xmlns:a16="http://schemas.microsoft.com/office/drawing/2014/main" id="{3A8C68AA-0C11-453A-8FD3-B230FD0F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91025"/>
            <a:ext cx="3333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Voice, anime expression, head motion, and 12 RGB LEDs act as one character.</a:t>
            </a:r>
          </a:p>
        </p:txBody>
      </p:sp>
      <p:sp>
        <p:nvSpPr>
          <p:cNvPr id="15" name="curiosity-band">
            <a:extLst xmlns:a="http://schemas.openxmlformats.org/drawingml/2006/main">
              <a:ext uri="{FF2B5EF4-FFF2-40B4-BE49-F238E27FC236}">
                <a16:creationId xmlns:a16="http://schemas.microsoft.com/office/drawing/2014/main" id="{01425302-B0A9-4109-B801-A2BF1FC7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uriosity-label">
            <a:extLst xmlns:a="http://schemas.openxmlformats.org/drawingml/2006/main">
              <a:ext uri="{FF2B5EF4-FFF2-40B4-BE49-F238E27FC236}">
                <a16:creationId xmlns:a16="http://schemas.microsoft.com/office/drawing/2014/main" id="{689B80F0-075C-4386-BDFF-9E465E65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6F55"/>
                </a:solidFill>
                <a:latin typeface="Helvetica Neue"/>
                <a:ea typeface="Helvetica Neue"/>
                <a:cs typeface="Helvetica Neue"/>
              </a:defRPr>
            </a:pPr>
            <a:r>
              <a:t>IDLE CURIOSITY</a:t>
            </a:r>
          </a:p>
        </p:txBody>
      </p:sp>
      <p:sp>
        <p:nvSpPr>
          <p:cNvPr id="17" name="curiosity-copy">
            <a:extLst xmlns:a="http://schemas.openxmlformats.org/drawingml/2006/main">
              <a:ext uri="{FF2B5EF4-FFF2-40B4-BE49-F238E27FC236}">
                <a16:creationId xmlns:a16="http://schemas.microsoft.com/office/drawing/2014/main" id="{E0731D9D-E97A-4C5B-94C7-96EC2E9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76900"/>
            <a:ext cx="86201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242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Explores owner-aligned articles, saves worthwhile topics, and can initiate a conversation when the moment is appropriate.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04655537-F7E5-47EF-8E36-4FADC548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971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Evidence: finished demo footage and native firmware behavior</a:t>
            </a:r>
          </a:p>
        </p:txBody>
      </p:sp>
      <p:sp>
        <p:nvSpPr>
          <p:cNvPr id="19" name="page-2">
            <a:extLst xmlns:a="http://schemas.openxmlformats.org/drawingml/2006/main">
              <a:ext uri="{FF2B5EF4-FFF2-40B4-BE49-F238E27FC236}">
                <a16:creationId xmlns:a16="http://schemas.microsoft.com/office/drawing/2014/main" id="{FD51027C-1EFE-4AD5-8BDF-B0F0C0C5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28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5112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A25F7960-B16B-4A29-95CE-1337BE8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57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body runs on the device.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5B2D5A-8C0C-4CE0-8DC0-549D9A15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Cloud intelligence is replaceable; perception, animation, memory, motion limits, and hardware control stay native.</a:t>
            </a:r>
          </a:p>
        </p:txBody>
      </p:sp>
      <p:cxnSp>
        <p:nvCxnSpPr>
          <p:cNvPr id="26" name="connector-1"/>
          <p:cNvCxnSpPr/>
          <p:nvPr/>
        </p:nvCxnSpPr>
        <p:spPr>
          <a:xfrm xmlns:a="http://schemas.openxmlformats.org/drawingml/2006/main">
            <a:off x="2457450" y="2905125"/>
            <a:ext cx="6667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27" name="connector-2"/>
          <p:cNvCxnSpPr/>
          <p:nvPr/>
        </p:nvCxnSpPr>
        <p:spPr>
          <a:xfrm xmlns:a="http://schemas.openxmlformats.org/drawingml/2006/main">
            <a:off x="5162550" y="2905125"/>
            <a:ext cx="6667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28" name="connector-3"/>
          <p:cNvCxnSpPr/>
          <p:nvPr/>
        </p:nvCxnSpPr>
        <p:spPr>
          <a:xfrm xmlns:a="http://schemas.openxmlformats.org/drawingml/2006/main">
            <a:off x="7867650" y="2905125"/>
            <a:ext cx="6667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node-sense">
            <a:extLst xmlns:a="http://schemas.openxmlformats.org/drawingml/2006/main">
              <a:ext uri="{FF2B5EF4-FFF2-40B4-BE49-F238E27FC236}">
                <a16:creationId xmlns:a16="http://schemas.microsoft.com/office/drawing/2014/main" id="{EE9D75A9-EE43-4371-BD32-A7688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2000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-core">
            <a:extLst xmlns:a="http://schemas.openxmlformats.org/drawingml/2006/main">
              <a:ext uri="{FF2B5EF4-FFF2-40B4-BE49-F238E27FC236}">
                <a16:creationId xmlns:a16="http://schemas.microsoft.com/office/drawing/2014/main" id="{3DC90C2A-C12E-447F-852A-71FB0FFE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43075"/>
            <a:ext cx="20383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express">
            <a:extLst xmlns:a="http://schemas.openxmlformats.org/drawingml/2006/main">
              <a:ext uri="{FF2B5EF4-FFF2-40B4-BE49-F238E27FC236}">
                <a16:creationId xmlns:a16="http://schemas.microsoft.com/office/drawing/2014/main" id="{C1F92C66-951E-4332-9CC3-416D2765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43075"/>
            <a:ext cx="20383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agent">
            <a:extLst xmlns:a="http://schemas.openxmlformats.org/drawingml/2006/main">
              <a:ext uri="{FF2B5EF4-FFF2-40B4-BE49-F238E27FC236}">
                <a16:creationId xmlns:a16="http://schemas.microsoft.com/office/drawing/2014/main" id="{EC10DD0F-EC7C-4C07-B82D-2EE12811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43075"/>
            <a:ext cx="2819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nse-title">
            <a:extLst xmlns:a="http://schemas.openxmlformats.org/drawingml/2006/main">
              <a:ext uri="{FF2B5EF4-FFF2-40B4-BE49-F238E27FC236}">
                <a16:creationId xmlns:a16="http://schemas.microsoft.com/office/drawing/2014/main" id="{E88E8779-7002-434D-836A-2EF9145F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SENSE</a:t>
            </a:r>
          </a:p>
        </p:txBody>
      </p:sp>
      <p:sp>
        <p:nvSpPr>
          <p:cNvPr id="11" name="sense-body">
            <a:extLst xmlns:a="http://schemas.openxmlformats.org/drawingml/2006/main">
              <a:ext uri="{FF2B5EF4-FFF2-40B4-BE49-F238E27FC236}">
                <a16:creationId xmlns:a16="http://schemas.microsoft.com/office/drawing/2014/main" id="{C57B1FE6-A1C0-4C62-881B-A6D398ED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6192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Camera
Microphone
Head touch
IMU motion</a:t>
            </a:r>
          </a:p>
        </p:txBody>
      </p:sp>
      <p:sp>
        <p:nvSpPr>
          <p:cNvPr id="12" name="core-title">
            <a:extLst xmlns:a="http://schemas.openxmlformats.org/drawingml/2006/main">
              <a:ext uri="{FF2B5EF4-FFF2-40B4-BE49-F238E27FC236}">
                <a16:creationId xmlns:a16="http://schemas.microsoft.com/office/drawing/2014/main" id="{4E19D01E-A873-4C32-A0B5-2413CB8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71675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C++</a:t>
            </a:r>
          </a:p>
        </p:txBody>
      </p:sp>
      <p:sp>
        <p:nvSpPr>
          <p:cNvPr id="13" name="core-body">
            <a:extLst xmlns:a="http://schemas.openxmlformats.org/drawingml/2006/main">
              <a:ext uri="{FF2B5EF4-FFF2-40B4-BE49-F238E27FC236}">
                <a16:creationId xmlns:a16="http://schemas.microsoft.com/office/drawing/2014/main" id="{25AC351F-606B-4221-B242-C446E75C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17145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ESP-IDF + FreeRTOS
Local face detection
Safety limits
Event memory</a:t>
            </a:r>
          </a:p>
        </p:txBody>
      </p:sp>
      <p:sp>
        <p:nvSpPr>
          <p:cNvPr id="14" name="express-title">
            <a:extLst xmlns:a="http://schemas.openxmlformats.org/drawingml/2006/main">
              <a:ext uri="{FF2B5EF4-FFF2-40B4-BE49-F238E27FC236}">
                <a16:creationId xmlns:a16="http://schemas.microsoft.com/office/drawing/2014/main" id="{464D2DD7-4CFA-44FD-B2D4-05686BC9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71675"/>
            <a:ext cx="1657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6F55"/>
                </a:solidFill>
                <a:latin typeface="Helvetica Neue"/>
                <a:ea typeface="Helvetica Neue"/>
                <a:cs typeface="Helvetica Neue"/>
              </a:defRPr>
            </a:pPr>
            <a:r>
              <a:t>EXPRESS</a:t>
            </a:r>
          </a:p>
        </p:txBody>
      </p:sp>
      <p:sp>
        <p:nvSpPr>
          <p:cNvPr id="15" name="express-body">
            <a:extLst xmlns:a="http://schemas.openxmlformats.org/drawingml/2006/main">
              <a:ext uri="{FF2B5EF4-FFF2-40B4-BE49-F238E27FC236}">
                <a16:creationId xmlns:a16="http://schemas.microsoft.com/office/drawing/2014/main" id="{11DB7455-9370-44FC-AEBF-EC9F7E2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16573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LVGL avatar
2 calibrated servos
12 RGB LEDs
Speaker</a:t>
            </a:r>
          </a:p>
        </p:txBody>
      </p:sp>
      <p:sp>
        <p:nvSpPr>
          <p:cNvPr id="16" name="agent-title">
            <a:extLst xmlns:a="http://schemas.openxmlformats.org/drawingml/2006/main">
              <a:ext uri="{FF2B5EF4-FFF2-40B4-BE49-F238E27FC236}">
                <a16:creationId xmlns:a16="http://schemas.microsoft.com/office/drawing/2014/main" id="{9059A570-07F2-465C-B641-9F80467D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71675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CFFF"/>
                </a:solidFill>
                <a:latin typeface="Helvetica Neue"/>
                <a:ea typeface="Helvetica Neue"/>
                <a:cs typeface="Helvetica Neue"/>
              </a:defRPr>
            </a:pPr>
            <a:r>
              <a:t>TYPED MCP BOUNDARY</a:t>
            </a:r>
          </a:p>
        </p:txBody>
      </p:sp>
      <p:sp>
        <p:nvSpPr>
          <p:cNvPr id="17" name="agent-body">
            <a:extLst xmlns:a="http://schemas.openxmlformats.org/drawingml/2006/main">
              <a:ext uri="{FF2B5EF4-FFF2-40B4-BE49-F238E27FC236}">
                <a16:creationId xmlns:a16="http://schemas.microsoft.com/office/drawing/2014/main" id="{862E37CD-BB02-426A-AC15-75D52567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3431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17 physical tools
Replaceable runtime model
Firmware keeps authority</a:t>
            </a:r>
          </a:p>
        </p:txBody>
      </p:sp>
      <p:pic>
        <p:nvPicPr>
          <p:cNvPr id="41" name="character-refere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b8e19f33342c2"/>
          <a:srcRect xmlns:a="http://schemas.openxmlformats.org/drawingml/2006/main" l="499" t="0" r="4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438650"/>
            <a:ext cx="2238375" cy="1504950"/>
          </a:xfrm>
          <a:prstGeom xmlns:a="http://schemas.openxmlformats.org/drawingml/2006/main" prst="rect">
            <a:avLst/>
          </a:prstGeom>
        </p:spPr>
      </p:pic>
      <p:sp>
        <p:nvSpPr>
          <p:cNvPr id="19" name="animation-band">
            <a:extLst xmlns:a="http://schemas.openxmlformats.org/drawingml/2006/main">
              <a:ext uri="{FF2B5EF4-FFF2-40B4-BE49-F238E27FC236}">
                <a16:creationId xmlns:a16="http://schemas.microsoft.com/office/drawing/2014/main" id="{3D474322-951F-4E61-9733-DDD0908F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438650"/>
            <a:ext cx="86582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nime-title">
            <a:extLst xmlns:a="http://schemas.openxmlformats.org/drawingml/2006/main">
              <a:ext uri="{FF2B5EF4-FFF2-40B4-BE49-F238E27FC236}">
                <a16:creationId xmlns:a16="http://schemas.microsoft.com/office/drawing/2014/main" id="{8B537AEB-6BA7-4AE6-AB7D-2EA24A24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863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1CFFF"/>
                </a:solidFill>
                <a:latin typeface="Helvetica Neue"/>
                <a:ea typeface="Helvetica Neue"/>
                <a:cs typeface="Helvetica Neue"/>
              </a:defRPr>
            </a:pPr>
            <a:r>
              <a:t>JAPANESE LIMITED ANIMATION IN LVGL</a:t>
            </a:r>
          </a:p>
        </p:txBody>
      </p:sp>
      <p:sp>
        <p:nvSpPr>
          <p:cNvPr id="21" name="anime-body">
            <a:extLst xmlns:a="http://schemas.openxmlformats.org/drawingml/2006/main">
              <a:ext uri="{FF2B5EF4-FFF2-40B4-BE49-F238E27FC236}">
                <a16:creationId xmlns:a16="http://schemas.microsoft.com/office/drawing/2014/main" id="{D251D7F2-656E-4AD6-B57F-53506923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95875"/>
            <a:ext cx="78581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High-quality held pose  +  layer-aligned eyelids  +  three mouth shapes  +  tame / tsume timing  +  follow-through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227A9EEE-A291-4DA3-8C0C-65B0BE50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971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Platform: ESP32-S3, 16 MB flash, 8 MB PSRAM; firmware: C/C++, ESP-IDF, FreeRTOS, LVGL, ESP-DL, MCP</a:t>
            </a:r>
          </a:p>
        </p:txBody>
      </p:sp>
      <p:sp>
        <p:nvSpPr>
          <p:cNvPr id="23" name="page-3">
            <a:extLst xmlns:a="http://schemas.openxmlformats.org/drawingml/2006/main">
              <a:ext uri="{FF2B5EF4-FFF2-40B4-BE49-F238E27FC236}">
                <a16:creationId xmlns:a16="http://schemas.microsoft.com/office/drawing/2014/main" id="{5885E240-64A4-4D36-8215-C4FCCE85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28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3914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">
            <a:extLst xmlns:a="http://schemas.openxmlformats.org/drawingml/2006/main">
              <a:ext uri="{FF2B5EF4-FFF2-40B4-BE49-F238E27FC236}">
                <a16:creationId xmlns:a16="http://schemas.microsoft.com/office/drawing/2014/main" id="{FF1111CC-7680-4B81-AD7A-1802483B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Codex moved fast when hardware produced evidence.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E9FDF2-5CEA-44BB-A619-4D75EA17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Its strength was cross-layer reasoning. Its boundary was the physical world.</a:t>
            </a:r>
          </a:p>
        </p:txBody>
      </p:sp>
      <p:sp>
        <p:nvSpPr>
          <p:cNvPr id="3" name="strength-field">
            <a:extLst xmlns:a="http://schemas.openxmlformats.org/drawingml/2006/main">
              <a:ext uri="{FF2B5EF4-FFF2-40B4-BE49-F238E27FC236}">
                <a16:creationId xmlns:a16="http://schemas.microsoft.com/office/drawing/2014/main" id="{F5C59AFC-2040-4142-B41D-646ECDB2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ong-label">
            <a:extLst xmlns:a="http://schemas.openxmlformats.org/drawingml/2006/main">
              <a:ext uri="{FF2B5EF4-FFF2-40B4-BE49-F238E27FC236}">
                <a16:creationId xmlns:a16="http://schemas.microsoft.com/office/drawing/2014/main" id="{2144B94E-7505-4476-A124-F8A239D7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STRONG</a:t>
            </a:r>
          </a:p>
        </p:txBody>
      </p:sp>
      <p:sp>
        <p:nvSpPr>
          <p:cNvPr id="5" name="strong-copy">
            <a:extLst xmlns:a="http://schemas.openxmlformats.org/drawingml/2006/main">
              <a:ext uri="{FF2B5EF4-FFF2-40B4-BE49-F238E27FC236}">
                <a16:creationId xmlns:a16="http://schemas.microsoft.com/office/drawing/2014/main" id="{9AE6A8FA-2E1E-4B2D-BC63-9ED9BD56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857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4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Code archaeology across C++, FreeRTOS, LVGL, ESP-DL, networking, drivers, and MCP.</a:t>
            </a:r>
          </a:p>
        </p:txBody>
      </p:sp>
      <p:sp>
        <p:nvSpPr>
          <p:cNvPr id="6" name="boundary-field">
            <a:extLst xmlns:a="http://schemas.openxmlformats.org/drawingml/2006/main">
              <a:ext uri="{FF2B5EF4-FFF2-40B4-BE49-F238E27FC236}">
                <a16:creationId xmlns:a16="http://schemas.microsoft.com/office/drawing/2014/main" id="{4C7553E9-C63C-42DB-BCC2-8C53D696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573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65D92CEB-309A-4C6A-BF60-BF7CDBB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7642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6F55"/>
                </a:solidFill>
                <a:latin typeface="Helvetica Neue"/>
                <a:ea typeface="Helvetica Neue"/>
                <a:cs typeface="Helvetica Neue"/>
              </a:defRPr>
            </a:pPr>
            <a:r>
              <a:t>BOUNDARY</a:t>
            </a:r>
          </a:p>
        </p:txBody>
      </p:sp>
      <p:sp>
        <p:nvSpPr>
          <p:cNvPr id="8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19E5D30B-CDD4-43D3-8336-6DEC8163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2857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log cannot hear servo noise, judge animation beauty, or prove that a commanded head movement happened safely.</a:t>
            </a:r>
          </a:p>
        </p:txBody>
      </p:sp>
      <p:sp>
        <p:nvSpPr>
          <p:cNvPr id="9" name="terminal">
            <a:extLst xmlns:a="http://schemas.openxmlformats.org/drawingml/2006/main">
              <a:ext uri="{FF2B5EF4-FFF2-40B4-BE49-F238E27FC236}">
                <a16:creationId xmlns:a16="http://schemas.microsoft.com/office/drawing/2014/main" id="{8D1EBC3F-8A25-4723-9B33-DBB01675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573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rminal-copy">
            <a:extLst xmlns:a="http://schemas.openxmlformats.org/drawingml/2006/main">
              <a:ext uri="{FF2B5EF4-FFF2-40B4-BE49-F238E27FC236}">
                <a16:creationId xmlns:a16="http://schemas.microsoft.com/office/drawing/2014/main" id="{26B11CFE-C494-418B-A931-D12AF78B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33337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F5F5F5"/>
                </a:solidFill>
                <a:latin typeface="SFMono-Regular"/>
                <a:ea typeface="SFMono-Regular"/>
                <a:cs typeface="SFMono-Regular"/>
              </a:defRPr>
            </a:pPr>
            <a:r>
              <a:t>assert failed:
s_task_stack_is_sane_when_cache_frozen()
Codex hypothesis:
move the vision task stack to PSRAM</a:t>
            </a:r>
          </a:p>
        </p:txBody>
      </p:sp>
      <p:cxnSp>
        <p:nvCxnSpPr>
          <p:cNvPr id="43" name="timeline-line"/>
          <p:cNvCxnSpPr/>
          <p:nvPr/>
        </p:nvCxnSpPr>
        <p:spPr>
          <a:xfrm xmlns:a="http://schemas.openxmlformats.org/drawingml/2006/main">
            <a:off x="762000" y="4600575"/>
            <a:ext cx="10048875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2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9E23829A-8D1F-4577-95BF-069A4467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3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B2DFFBE4-AC26-4CAA-9665-2AC96D3D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339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4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6C475D1D-6ED4-42C3-BA52-543D21EC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5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80C6EFD-AEFC-4D2C-85B0-7A69ECF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339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C6B"/>
          </a:solidFill>
        </p:spPr>
      </p:sp>
      <p:sp>
        <p:nvSpPr>
          <p:cNvPr id="16" name="step-1">
            <a:extLst xmlns:a="http://schemas.openxmlformats.org/drawingml/2006/main">
              <a:ext uri="{FF2B5EF4-FFF2-40B4-BE49-F238E27FC236}">
                <a16:creationId xmlns:a16="http://schemas.microsoft.com/office/drawing/2014/main" id="{E81C584F-CC7D-40F0-A8F7-E069D0EB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38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6F5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7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F6DA6DA1-CDA6-4B81-95DE-85B54CC5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Model before TLS</a:t>
            </a:r>
          </a:p>
        </p:txBody>
      </p:sp>
      <p:sp>
        <p:nvSpPr>
          <p:cNvPr id="18" name="step-1-copy">
            <a:extLst xmlns:a="http://schemas.openxmlformats.org/drawingml/2006/main">
              <a:ext uri="{FF2B5EF4-FFF2-40B4-BE49-F238E27FC236}">
                <a16:creationId xmlns:a16="http://schemas.microsoft.com/office/drawing/2014/main" id="{8DE21C3A-A888-496C-9652-F9459A99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19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MQTT allocation failure</a:t>
            </a:r>
          </a:p>
        </p:txBody>
      </p:sp>
      <p:sp>
        <p:nvSpPr>
          <p:cNvPr id="19" name="step-2">
            <a:extLst xmlns:a="http://schemas.openxmlformats.org/drawingml/2006/main">
              <a:ext uri="{FF2B5EF4-FFF2-40B4-BE49-F238E27FC236}">
                <a16:creationId xmlns:a16="http://schemas.microsoft.com/office/drawing/2014/main" id="{AECFA33A-6C10-4BAA-B65A-0E4299EA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38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6F5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0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76EBBF33-3B53-441D-ADFC-BCD5DA0F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24325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Task after TLS</a:t>
            </a:r>
          </a:p>
        </p:txBody>
      </p:sp>
      <p:sp>
        <p:nvSpPr>
          <p:cNvPr id="21" name="step-2-copy">
            <a:extLst xmlns:a="http://schemas.openxmlformats.org/drawingml/2006/main">
              <a:ext uri="{FF2B5EF4-FFF2-40B4-BE49-F238E27FC236}">
                <a16:creationId xmlns:a16="http://schemas.microsoft.com/office/drawing/2014/main" id="{CE629545-64EC-473C-8668-DC14F99E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57750"/>
            <a:ext cx="219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Fragmented internal RAM</a:t>
            </a:r>
          </a:p>
        </p:txBody>
      </p:sp>
      <p:sp>
        <p:nvSpPr>
          <p:cNvPr id="22" name="step-3">
            <a:extLst xmlns:a="http://schemas.openxmlformats.org/drawingml/2006/main">
              <a:ext uri="{FF2B5EF4-FFF2-40B4-BE49-F238E27FC236}">
                <a16:creationId xmlns:a16="http://schemas.microsoft.com/office/drawing/2014/main" id="{24376C4E-0EF8-4C82-930F-58BA7C6E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38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6F5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3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4B0F31AD-7B7D-41C8-B36A-F00EEB4A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Stack in PSRAM</a:t>
            </a:r>
          </a:p>
        </p:txBody>
      </p:sp>
      <p:sp>
        <p:nvSpPr>
          <p:cNvPr id="24" name="step-3-copy">
            <a:extLst xmlns:a="http://schemas.openxmlformats.org/drawingml/2006/main">
              <a:ext uri="{FF2B5EF4-FFF2-40B4-BE49-F238E27FC236}">
                <a16:creationId xmlns:a16="http://schemas.microsoft.com/office/drawing/2014/main" id="{6109DAAA-B7CD-45CA-B9E0-993686B0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219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Cache-freeze reboot loop</a:t>
            </a:r>
          </a:p>
        </p:txBody>
      </p:sp>
      <p:sp>
        <p:nvSpPr>
          <p:cNvPr id="25" name="step-4">
            <a:extLst xmlns:a="http://schemas.openxmlformats.org/drawingml/2006/main">
              <a:ext uri="{FF2B5EF4-FFF2-40B4-BE49-F238E27FC236}">
                <a16:creationId xmlns:a16="http://schemas.microsoft.com/office/drawing/2014/main" id="{D3289ABE-99F5-4826-9866-01E87FAB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29050"/>
            <a:ext cx="38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8C6B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6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12D69839-7CE8-4CF1-ADAA-8B4AEB65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24325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Final startup design</a:t>
            </a:r>
          </a:p>
        </p:txBody>
      </p:sp>
      <p:sp>
        <p:nvSpPr>
          <p:cNvPr id="27" name="step-4-copy">
            <a:extLst xmlns:a="http://schemas.openxmlformats.org/drawingml/2006/main">
              <a:ext uri="{FF2B5EF4-FFF2-40B4-BE49-F238E27FC236}">
                <a16:creationId xmlns:a16="http://schemas.microsoft.com/office/drawing/2014/main" id="{D986642E-6DFF-4937-B277-A00BE30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57750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Reserve internal stack early; activate model after secure connect</a:t>
            </a:r>
          </a:p>
        </p:txBody>
      </p:sp>
      <p:sp>
        <p:nvSpPr>
          <p:cNvPr id="28" name="improve-band">
            <a:extLst xmlns:a="http://schemas.openxmlformats.org/drawingml/2006/main">
              <a:ext uri="{FF2B5EF4-FFF2-40B4-BE49-F238E27FC236}">
                <a16:creationId xmlns:a16="http://schemas.microsoft.com/office/drawing/2014/main" id="{F45A8618-ECEF-4E6C-A563-07C409CB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0896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mprove-label">
            <a:extLst xmlns:a="http://schemas.openxmlformats.org/drawingml/2006/main">
              <a:ext uri="{FF2B5EF4-FFF2-40B4-BE49-F238E27FC236}">
                <a16:creationId xmlns:a16="http://schemas.microsoft.com/office/drawing/2014/main" id="{82F7F21A-7164-4125-992D-9F1E3290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76925"/>
            <a:ext cx="904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6F55"/>
                </a:solidFill>
                <a:latin typeface="Helvetica Neue"/>
                <a:ea typeface="Helvetica Neue"/>
                <a:cs typeface="Helvetica Neue"/>
              </a:defRPr>
            </a:pPr>
            <a:r>
              <a:t>IMPROVE</a:t>
            </a:r>
          </a:p>
        </p:txBody>
      </p:sp>
      <p:sp>
        <p:nvSpPr>
          <p:cNvPr id="30" name="improve-copy">
            <a:extLst xmlns:a="http://schemas.openxmlformats.org/drawingml/2006/main">
              <a:ext uri="{FF2B5EF4-FFF2-40B4-BE49-F238E27FC236}">
                <a16:creationId xmlns:a16="http://schemas.microsoft.com/office/drawing/2014/main" id="{21732CD3-612D-4A43-9F6C-E3BB119B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48350"/>
            <a:ext cx="9448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Uncertainty from partial logs  /  chip-specific memory rules  /  automatic rollback  /  command issued != behavior verified</a:t>
            </a:r>
          </a:p>
        </p:txBody>
      </p:sp>
      <p:sp>
        <p:nvSpPr>
          <p:cNvPr id="31" name="source">
            <a:extLst xmlns:a="http://schemas.openxmlformats.org/drawingml/2006/main">
              <a:ext uri="{FF2B5EF4-FFF2-40B4-BE49-F238E27FC236}">
                <a16:creationId xmlns:a16="http://schemas.microsoft.com/office/drawing/2014/main" id="{0A57640A-672A-4801-A3B5-DC995961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971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Failure sequence reconstructed from live flashing, serial logs, and physical observation</a:t>
            </a:r>
          </a:p>
        </p:txBody>
      </p:sp>
      <p:sp>
        <p:nvSpPr>
          <p:cNvPr id="32" name="page-4">
            <a:extLst xmlns:a="http://schemas.openxmlformats.org/drawingml/2006/main">
              <a:ext uri="{FF2B5EF4-FFF2-40B4-BE49-F238E27FC236}">
                <a16:creationId xmlns:a16="http://schemas.microsoft.com/office/drawing/2014/main" id="{6AAD7321-9747-4A49-8C7B-B9A8134F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28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1397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result-dem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af144984a4bf9"/>
          <a:srcRect xmlns:a="http://schemas.openxmlformats.org/drawingml/2006/main" l="20313" t="0" r="203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sult-field">
            <a:extLst xmlns:a="http://schemas.openxmlformats.org/drawingml/2006/main">
              <a:ext uri="{FF2B5EF4-FFF2-40B4-BE49-F238E27FC236}">
                <a16:creationId xmlns:a16="http://schemas.microsoft.com/office/drawing/2014/main" id="{944B1B48-FD42-4AF5-A48F-0675BC59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sult-coral-rule">
            <a:extLst xmlns:a="http://schemas.openxmlformats.org/drawingml/2006/main">
              <a:ext uri="{FF2B5EF4-FFF2-40B4-BE49-F238E27FC236}">
                <a16:creationId xmlns:a16="http://schemas.microsoft.com/office/drawing/2014/main" id="{4180F892-7AA3-4584-B33F-5BB26F6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0DB6252-C8E6-4F32-A224-AAD42EBD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1CFFF"/>
                </a:solidFill>
                <a:latin typeface="Helvetica Neue"/>
                <a:ea typeface="Helvetica Neue"/>
                <a:cs typeface="Helvetica Neue"/>
              </a:defRPr>
            </a:pPr>
            <a:r>
              <a:t>THE RESULT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6467241-F1B5-4235-95F9-6D41C6A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43624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 complete character,
not a proof of concept.</a:t>
            </a:r>
          </a:p>
        </p:txBody>
      </p:sp>
      <p:sp>
        <p:nvSpPr>
          <p:cNvPr id="6" name="proof-list">
            <a:extLst xmlns:a="http://schemas.openxmlformats.org/drawingml/2006/main">
              <a:ext uri="{FF2B5EF4-FFF2-40B4-BE49-F238E27FC236}">
                <a16:creationId xmlns:a16="http://schemas.microsoft.com/office/drawing/2014/main" id="{F7111987-6643-48ED-AC24-A31BF021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40005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9E9E9"/>
                </a:solidFill>
                <a:latin typeface="Helvetica Neue"/>
                <a:ea typeface="Helvetica Neue"/>
                <a:cs typeface="Helvetica Neue"/>
              </a:defRPr>
            </a:pPr>
            <a:r>
              <a:t>Working physical robot
Installable native firmware
Local face tracking
Voice + gesture + touch wake
17 typed MCP tools
2 servos + 12 RGB LEDs</a:t>
            </a:r>
          </a:p>
        </p:txBody>
      </p:sp>
      <p:sp>
        <p:nvSpPr>
          <p:cNvPr id="7" name="lesson">
            <a:extLst xmlns:a="http://schemas.openxmlformats.org/drawingml/2006/main">
              <a:ext uri="{FF2B5EF4-FFF2-40B4-BE49-F238E27FC236}">
                <a16:creationId xmlns:a16="http://schemas.microsoft.com/office/drawing/2014/main" id="{098AA22F-F7C2-462B-8103-5D7C228E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4324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C8C8C8"/>
                </a:solidFill>
                <a:latin typeface="Helvetica Neue"/>
                <a:ea typeface="Helvetica Neue"/>
                <a:cs typeface="Helvetica Neue"/>
              </a:defRPr>
            </a:pPr>
            <a:r>
              <a:t>Codex was excellent with code and telemetry. Real embedded work still required human eyes, ears, and safety judgment.</a:t>
            </a:r>
          </a:p>
        </p:txBody>
      </p:sp>
      <p:sp>
        <p:nvSpPr>
          <p:cNvPr id="8" name="repo-url">
            <a:extLst xmlns:a="http://schemas.openxmlformats.org/drawingml/2006/main">
              <a:ext uri="{FF2B5EF4-FFF2-40B4-BE49-F238E27FC236}">
                <a16:creationId xmlns:a16="http://schemas.microsoft.com/office/drawing/2014/main" id="{5A0DC844-24C3-4CA1-B802-1B88D042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4381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CFFF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github.com/baryhuang/yuki-desktop-robot</a:t>
            </a:r>
          </a:p>
        </p:txBody>
      </p:sp>
      <p:sp>
        <p:nvSpPr>
          <p:cNvPr id="9" name="page-5">
            <a:extLst xmlns:a="http://schemas.openxmlformats.org/drawingml/2006/main">
              <a:ext uri="{FF2B5EF4-FFF2-40B4-BE49-F238E27FC236}">
                <a16:creationId xmlns:a16="http://schemas.microsoft.com/office/drawing/2014/main" id="{62191315-F9ED-424C-A281-3FA16CA0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286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C8C8C8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3239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2026-07-21T23:23:20.5110000Z</dcterms:created>
  <dcterms:modified xsi:type="dcterms:W3CDTF">2026-07-21T23:23:20.5120000Z</dcterms:modified>
</coreProperties>
</file>